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embeddedFontLst>
    <p:embeddedFont>
      <p:font typeface="Source Sans 3" panose="020B0604020202020204" charset="0"/>
      <p:regular r:id="rId14"/>
    </p:embeddedFont>
    <p:embeddedFont>
      <p:font typeface="Source Sans 3 Bold" panose="020B0604020202020204" charset="0"/>
      <p:regular r:id="rId15"/>
    </p:embeddedFont>
    <p:embeddedFont>
      <p:font typeface="Source Serif 4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43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9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89986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3004245"/>
            <a:ext cx="5125045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End-to-End Data Analytics Project Using Python, SQL and Power BI</a:t>
            </a:r>
            <a:endParaRPr lang="en-US" sz="11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D8A48D-91A1-0193-2E4D-763C1DA82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77" y="4534638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919311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The Challenge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1583680"/>
            <a:ext cx="4667845" cy="11257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8400" y="1752302"/>
            <a:ext cx="42544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Without Direction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8400" y="2062014"/>
            <a:ext cx="42544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Retail businesses generate large transaction volumes but lack infrastructure to convert raw records into actionable intelligence.</a:t>
            </a:r>
            <a:endParaRPr lang="en-US" sz="11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2858988"/>
            <a:ext cx="4667845" cy="1365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8400" y="3027611"/>
            <a:ext cx="42544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Blind Spots in Strategy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768400" y="3337322"/>
            <a:ext cx="4254401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Without clear insight into customer demographics, purchase patterns, and preferences, businesses cannot effectively target marketing or optimize product mix.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4298"/>
            <a:ext cx="80968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kern="0" spc="-53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Scope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437382"/>
            <a:ext cx="5141193" cy="289187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17344" y="1230362"/>
            <a:ext cx="2607766" cy="1085627"/>
          </a:xfrm>
          <a:prstGeom prst="roundRect">
            <a:avLst>
              <a:gd name="adj" fmla="val 551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164684" y="1377702"/>
            <a:ext cx="2313087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164684" y="1723206"/>
            <a:ext cx="2313087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3,900 customer transactions across 18 columns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017344" y="2451869"/>
            <a:ext cx="2607766" cy="862905"/>
          </a:xfrm>
          <a:prstGeom prst="roundRect">
            <a:avLst>
              <a:gd name="adj" fmla="val 6941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64684" y="2599209"/>
            <a:ext cx="2313087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Tools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164684" y="2944713"/>
            <a:ext cx="2313087" cy="2227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 (Pandas), MySQL, Power BI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17344" y="3450654"/>
            <a:ext cx="2607766" cy="1085627"/>
          </a:xfrm>
          <a:prstGeom prst="roundRect">
            <a:avLst>
              <a:gd name="adj" fmla="val 5517"/>
            </a:avLst>
          </a:prstGeom>
          <a:solidFill>
            <a:srgbClr val="F0D4F7"/>
          </a:solidFill>
          <a:ln w="4763">
            <a:solidFill>
              <a:srgbClr val="D6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64684" y="3597994"/>
            <a:ext cx="2313087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164684" y="3943499"/>
            <a:ext cx="2313087" cy="4454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 data, execute 10 SQL analyses, build interactive dashboard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674215-BEC1-7826-C9E7-E3BD9B3DC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783" y="459481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7860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Cleaning &amp; Preparation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61783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23577" y="1853059"/>
            <a:ext cx="3973637" cy="1905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5" name="Text 3"/>
          <p:cNvSpPr/>
          <p:nvPr/>
        </p:nvSpPr>
        <p:spPr>
          <a:xfrm>
            <a:off x="523577" y="1965945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Impute Missing Values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23577" y="2275656"/>
            <a:ext cx="39736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Imputed 37 missing Review Rating values using category-level median to preserve data integrity.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646786" y="1617836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46786" y="1853059"/>
            <a:ext cx="3973637" cy="1905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9" name="Text 7"/>
          <p:cNvSpPr/>
          <p:nvPr/>
        </p:nvSpPr>
        <p:spPr>
          <a:xfrm>
            <a:off x="4646786" y="1965945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46786" y="2275656"/>
            <a:ext cx="39736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Engineered </a:t>
            </a: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age_group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feature via quartile segmentation: Young Adult, Adult, Middle-aged, Senior.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23577" y="3016151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251374"/>
            <a:ext cx="3973637" cy="1905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3" name="Text 11"/>
          <p:cNvSpPr/>
          <p:nvPr/>
        </p:nvSpPr>
        <p:spPr>
          <a:xfrm>
            <a:off x="523577" y="3364260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Remove Redundancy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23577" y="3673971"/>
            <a:ext cx="39736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Discovered and removed redundant column: Discount Applied = Promo Code Used (100% identical).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46786" y="3016151"/>
            <a:ext cx="299219" cy="18700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46786" y="3251374"/>
            <a:ext cx="3973637" cy="19050"/>
          </a:xfrm>
          <a:prstGeom prst="rect">
            <a:avLst/>
          </a:prstGeom>
          <a:solidFill>
            <a:srgbClr val="BE49DF"/>
          </a:solidFill>
          <a:ln/>
        </p:spPr>
      </p:sp>
      <p:sp>
        <p:nvSpPr>
          <p:cNvPr id="17" name="Text 15"/>
          <p:cNvSpPr/>
          <p:nvPr/>
        </p:nvSpPr>
        <p:spPr>
          <a:xfrm>
            <a:off x="4646786" y="3364260"/>
            <a:ext cx="3973637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Export to MySQL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646786" y="3673971"/>
            <a:ext cx="397363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Exported cleaned 3,900 × 19 dataset to MySQL for structured SQL analysis.</a:t>
            </a:r>
            <a:endParaRPr lang="en-US" sz="115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5E38EEB-1EB4-B225-3252-90CF756B3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077" y="452854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33536"/>
            <a:ext cx="4667845" cy="811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51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Finding: Clothing Dominates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1578546"/>
            <a:ext cx="2165672" cy="19718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59513" y="1562621"/>
            <a:ext cx="216567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Breakdown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6459513" y="1892573"/>
            <a:ext cx="2165672" cy="1597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Clothing generates </a:t>
            </a:r>
            <a:r>
              <a:rPr lang="en-US" sz="1050" b="1" kern="0" spc="-22" dirty="0">
                <a:solidFill>
                  <a:srgbClr val="BE49D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~$104K revenue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representing </a:t>
            </a:r>
            <a:r>
              <a:rPr lang="en-US" sz="1050" b="1" kern="0" spc="-22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44.5% of all transactions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1,737 clothing records vs. 250 outerwear records — a 7× volume advantage over the next closest category.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6459513" y="3633490"/>
            <a:ext cx="2165672" cy="933450"/>
          </a:xfrm>
          <a:prstGeom prst="roundRect">
            <a:avLst>
              <a:gd name="adj" fmla="val 6206"/>
            </a:avLst>
          </a:prstGeom>
          <a:solidFill>
            <a:srgbClr val="F0D4F7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402" y="3832771"/>
            <a:ext cx="172343" cy="1378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07634" y="3782318"/>
            <a:ext cx="1579662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kern="0" spc="-22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Implication:</a:t>
            </a:r>
            <a:r>
              <a:rPr lang="en-US" sz="1050" kern="0" spc="-22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Protect inventory and prioritize marketing in this category.</a:t>
            </a:r>
            <a:endParaRPr lang="en-US" sz="10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40EF12-9C03-BC82-EA5B-A0A4B0184F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1077" y="4620768"/>
            <a:ext cx="1676545" cy="45646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46857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Finding: Young Adults Lead Revenue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860872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kern="0" spc="-7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$62K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523577" y="2541538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Young Adult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851249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Ages 18–30 generate the highest revenue of all age groups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4860" y="1860872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kern="0" spc="-7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1,028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284860" y="2541538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Transactions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84860" y="2851249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Young Adults account for the most purchase records in the dataset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6143" y="1860872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kern="0" spc="-7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11%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046143" y="2541538"/>
            <a:ext cx="257428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Edge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6143" y="2851249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revenue than the Adult segment — the next closest age group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3577" y="3498279"/>
            <a:ext cx="8096845" cy="598289"/>
          </a:xfrm>
          <a:prstGeom prst="roundRect">
            <a:avLst>
              <a:gd name="adj" fmla="val 10503"/>
            </a:avLst>
          </a:prstGeom>
          <a:solidFill>
            <a:srgbClr val="F0D4F7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50" y="3716238"/>
            <a:ext cx="187003" cy="14957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09724" y="3685208"/>
            <a:ext cx="79183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kern="0" spc="-24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Implication:</a:t>
            </a:r>
            <a:r>
              <a:rPr lang="en-US" sz="1150" kern="0" spc="-24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Digital and social media targeting should focus on the 18–30 demographic.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0241FB5-EC92-26EB-8CBB-638D5CDC8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77" y="452854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12254"/>
            <a:ext cx="4667845" cy="866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Finding: Subscription Opportunity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1659062"/>
            <a:ext cx="2154287" cy="196140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70898" y="1640979"/>
            <a:ext cx="2154287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 Largely Untapped Base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470898" y="2002482"/>
            <a:ext cx="2154287" cy="259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000"/>
              </a:spcAft>
              <a:buNone/>
            </a:pPr>
            <a:r>
              <a:rPr lang="en-US" sz="1150" b="1" kern="0" spc="-23" dirty="0">
                <a:solidFill>
                  <a:srgbClr val="BE49DF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73% of customers are non-subscribers</a:t>
            </a: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2,847 out of 3,900 total customers.</a:t>
            </a:r>
            <a:endParaRPr lang="en-US" sz="1150" dirty="0"/>
          </a:p>
          <a:p>
            <a:pPr marL="0" indent="0" algn="l">
              <a:lnSpc>
                <a:spcPct val="132000"/>
              </a:lnSpc>
              <a:spcAft>
                <a:spcPts val="1000"/>
              </a:spcAft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</a:t>
            </a:r>
            <a:r>
              <a:rPr lang="en-US" sz="1150" b="1" kern="0" spc="-23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27%</a:t>
            </a: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hold active subscriptions (1,053 customers), leaving a significant recurring-revenue gap.</a:t>
            </a:r>
            <a:endParaRPr lang="en-US" sz="11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Converting just </a:t>
            </a:r>
            <a:r>
              <a:rPr lang="en-US" sz="1150" b="1" kern="0" spc="-23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10% of non-subscribers</a:t>
            </a: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adds approximately </a:t>
            </a:r>
            <a:r>
              <a:rPr lang="en-US" sz="1150" b="1" kern="0" spc="-23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285 recurring-revenue customers</a:t>
            </a:r>
            <a:r>
              <a:rPr lang="en-US" sz="1150" kern="0" spc="-23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the base.</a:t>
            </a:r>
            <a:endParaRPr lang="en-US" sz="11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153800-1930-F504-B5C0-292E2E64D5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077" y="4534638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46882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Finding: Discounts Don't Drive Spend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060823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What the Data Shows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430363"/>
            <a:ext cx="3865959" cy="1092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High-value discount users spend </a:t>
            </a: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at or above the $59.76 average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discounts are not the driver of higher spend.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Shipping type has </a:t>
            </a: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no material effect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on purchase amount across all 6 shipping types tested.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651549" y="1911251"/>
            <a:ext cx="4081314" cy="1985293"/>
          </a:xfrm>
          <a:prstGeom prst="roundRect">
            <a:avLst>
              <a:gd name="adj" fmla="val 5426"/>
            </a:avLst>
          </a:prstGeom>
          <a:solidFill>
            <a:srgbClr val="BE49DF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801121" y="2060823"/>
            <a:ext cx="37821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Strategic Implication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801121" y="2430363"/>
            <a:ext cx="3782169" cy="133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1150" kern="0" spc="-24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 blanket discounts with </a:t>
            </a:r>
            <a:r>
              <a:rPr lang="en-US" sz="1150" b="1" kern="0" spc="-24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loyalty rewards</a:t>
            </a:r>
            <a:r>
              <a:rPr lang="en-US" sz="1150" kern="0" spc="-24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that reinforce repeat behavior without eroding margin.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Position shipping upgrades as </a:t>
            </a:r>
            <a:r>
              <a:rPr lang="en-US" sz="1150" b="1" kern="0" spc="-24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perks, not upsells</a:t>
            </a:r>
            <a:r>
              <a:rPr lang="en-US" sz="1150" kern="0" spc="-24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customers are indifferent to shipping type when making purchase decisions.</a:t>
            </a:r>
            <a:endParaRPr lang="en-US" sz="11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B57880-9D0F-EC2D-87D2-378166691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077" y="452854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56850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Dashboard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2307729"/>
            <a:ext cx="374005" cy="374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84585" y="2307729"/>
            <a:ext cx="201327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KPI Cards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84585" y="2617440"/>
            <a:ext cx="201327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3.9K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customers · </a:t>
            </a: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$59.76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avg purchase · </a:t>
            </a: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3.75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avg rating — top-line metrics at a glance.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84860" y="2307729"/>
            <a:ext cx="374005" cy="3740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845868" y="2307729"/>
            <a:ext cx="201327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Visual Panels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845868" y="2617440"/>
            <a:ext cx="2013272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Subscription donut, revenue &amp; sales by category, revenue &amp; sales by age group — all in one view.</a:t>
            </a:r>
            <a:endParaRPr lang="en-US" sz="11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6143" y="2307729"/>
            <a:ext cx="374005" cy="374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07150" y="2307729"/>
            <a:ext cx="201327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Interactive Slicers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607150" y="2617440"/>
            <a:ext cx="2013272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Dynamic filters for subscription status, gender, category, and shipping type enable drill-down exploration.</a:t>
            </a: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5637B3F-9B74-F88C-7486-C574382B949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01077" y="452854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3798540"/>
            <a:ext cx="8096845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kern="0" spc="-48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Dashboard Screenshot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523577" y="4342358"/>
            <a:ext cx="809684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000" kern="0" spc="-2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Power BI dashboard delivering KPI cards, category revenue breakdowns, age group analysis, and subscription segmentation — all filterable by gender, category, and shipping type.</a:t>
            </a:r>
            <a:endParaRPr lang="en-US" sz="1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3CF582-FDB9-A487-672B-F33F87AA7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96" y="336261"/>
            <a:ext cx="7510272" cy="33794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7012D6-17B5-33F8-084D-273762CA8C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077" y="452854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65461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5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SQL Analysis Highlights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1804690"/>
            <a:ext cx="2599209" cy="22732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11003" y="1905521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92200" y="2422103"/>
            <a:ext cx="2261964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Q1 — Revenue by Gender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92200" y="2731815"/>
            <a:ext cx="22619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(68%) generate proportionally higher total revenue — informing gender-targeted campaign allocation.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358" y="1804690"/>
            <a:ext cx="2599209" cy="22732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459784" y="1905521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3440981" y="2422103"/>
            <a:ext cx="2261964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Q3 — Top Products by Rating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40981" y="2951783"/>
            <a:ext cx="2261964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Top 5 products by review rating identified as prime candidates for featured placement and promotional spotlight.</a:t>
            </a:r>
            <a:endParaRPr lang="en-US" sz="11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21139" y="1804690"/>
            <a:ext cx="2599283" cy="22732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208565" y="1905521"/>
            <a:ext cx="224358" cy="28046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0" spc="-35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6189762" y="2422103"/>
            <a:ext cx="2262039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Q7 — Loyalty Segmentation via CTE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6189762" y="2951783"/>
            <a:ext cx="226203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loyalty segmentation using a Common Table Expression reveals the majority fall into the </a:t>
            </a:r>
            <a:r>
              <a:rPr lang="en-US" sz="1150" b="1" kern="0" spc="-24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'Loyal'</a:t>
            </a:r>
            <a:r>
              <a:rPr lang="en-US" sz="1150" kern="0" spc="-24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category (&gt;10 purchases).</a:t>
            </a:r>
            <a:endParaRPr lang="en-US" sz="11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7C7B56-3C6F-3222-72D8-85CD13D3A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1077" y="4528542"/>
            <a:ext cx="1676545" cy="548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614</Words>
  <Application>Microsoft Office PowerPoint</Application>
  <PresentationFormat>On-screen Show (16:9)</PresentationFormat>
  <Paragraphs>85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Source Serif 4 Light</vt:lpstr>
      <vt:lpstr>Arial</vt:lpstr>
      <vt:lpstr>Source Sans 3</vt:lpstr>
      <vt:lpstr>Source Serif 4 SemiBold</vt:lpstr>
      <vt:lpstr>Source Sans 3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Neeraj kumar</cp:lastModifiedBy>
  <cp:revision>2</cp:revision>
  <dcterms:created xsi:type="dcterms:W3CDTF">2026-08-07T18:24:48Z</dcterms:created>
  <dcterms:modified xsi:type="dcterms:W3CDTF">2026-08-07T18:50:53Z</dcterms:modified>
</cp:coreProperties>
</file>